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Roboto Light"/>
      <p:regular r:id="rId201314"/>
    </p:embeddedFont>
    <p:embeddedFont>
      <p:font typeface="Roboto"/>
      <p:regular r:id="rId201315"/>
    </p:embeddedFont>
    <p:embeddedFont>
      <p:font typeface="Roboto Thin"/>
      <p:regular r:id="rId201316"/>
    </p:embeddedFont>
    <p:embeddedFont>
      <p:font typeface="Roboto ExtraLight"/>
      <p:regular r:id="rId201317"/>
    </p:embeddedFont>
    <p:embeddedFont>
      <p:font typeface="Roboto Medium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ExtraBold"/>
      <p:regular r:id="rId201321"/>
    </p:embeddedFont>
    <p:embeddedFont>
      <p:font typeface="Roboto Black"/>
      <p:regular r:id="rId201322"/>
    </p:embeddedFont>
    <p:embeddedFont>
      <p:font typeface="Roboto Slab Thin"/>
      <p:regular r:id="rId201323"/>
    </p:embeddedFont>
    <p:embeddedFont>
      <p:font typeface="Roboto Slab ExtraLight"/>
      <p:regular r:id="rId201324"/>
    </p:embeddedFont>
    <p:embeddedFont>
      <p:font typeface="Roboto Slab Light"/>
      <p:regular r:id="rId201325"/>
    </p:embeddedFont>
    <p:embeddedFont>
      <p:font typeface="Roboto Slab"/>
      <p:regular r:id="rId201326"/>
    </p:embeddedFont>
    <p:embeddedFont>
      <p:font typeface="Roboto Slab Medium"/>
      <p:regular r:id="rId201327"/>
    </p:embeddedFont>
    <p:embeddedFont>
      <p:font typeface="Roboto Slab SemiBold"/>
      <p:regular r:id="rId201328"/>
    </p:embeddedFont>
    <p:embeddedFont>
      <p:font typeface="Roboto Slab Bold"/>
      <p:regular r:id="rId201329"/>
    </p:embeddedFont>
    <p:embeddedFont>
      <p:font typeface="Roboto Slab ExtraBold"/>
      <p:regular r:id="rId201330"/>
    </p:embeddedFont>
    <p:embeddedFont>
      <p:font typeface="Roboto Slab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57B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image" Target="../media/image-3-1.png"/><Relationship Id="rId12" Type="http://schemas.openxmlformats.org/officeDocument/2006/relationships/image" Target="../media/image-3-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Bank Loan Approval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Analytics Project using Python, Pandas, Matplotlib &amp;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8058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Overview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1027881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96119" y="1308497"/>
            <a:ext cx="3932709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customer loan applications to understand the key factors affecting loan approval decisions.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6119" y="1749028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Workflow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19935" y="1027881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Features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19935" y="1250156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19935" y="1530772"/>
            <a:ext cx="3932709" cy="583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Removed duplicates &amp; handled missing values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Cleaned categorical data &amp; verified data types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Removed unnecessary columns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6119" y="2257127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6119" y="2442344"/>
            <a:ext cx="2652415" cy="14288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1" name="Text 9"/>
          <p:cNvSpPr/>
          <p:nvPr/>
        </p:nvSpPr>
        <p:spPr>
          <a:xfrm>
            <a:off x="496119" y="2529557"/>
            <a:ext cx="265241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45718" y="2257127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5718" y="2442344"/>
            <a:ext cx="2652489" cy="14288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4" name="Text 12"/>
          <p:cNvSpPr/>
          <p:nvPr/>
        </p:nvSpPr>
        <p:spPr>
          <a:xfrm>
            <a:off x="3245718" y="2529557"/>
            <a:ext cx="265248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95392" y="2257127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95392" y="2442344"/>
            <a:ext cx="2652415" cy="14288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7" name="Text 15"/>
          <p:cNvSpPr/>
          <p:nvPr/>
        </p:nvSpPr>
        <p:spPr>
          <a:xfrm>
            <a:off x="5995392" y="2529557"/>
            <a:ext cx="265241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EDA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6119" y="2898204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6119" y="3071664"/>
            <a:ext cx="4027215" cy="14288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20" name="Text 18"/>
          <p:cNvSpPr/>
          <p:nvPr/>
        </p:nvSpPr>
        <p:spPr>
          <a:xfrm>
            <a:off x="496119" y="3170634"/>
            <a:ext cx="402721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Insights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20518" y="2898204"/>
            <a:ext cx="234776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20518" y="3071664"/>
            <a:ext cx="4027289" cy="14288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23" name="Text 21"/>
          <p:cNvSpPr/>
          <p:nvPr/>
        </p:nvSpPr>
        <p:spPr>
          <a:xfrm>
            <a:off x="4620518" y="3170634"/>
            <a:ext cx="402728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Power BI Dashboard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6119" y="3527971"/>
            <a:ext cx="1965052" cy="630138"/>
          </a:xfrm>
          <a:prstGeom prst="roundRect">
            <a:avLst>
              <a:gd name="adj" fmla="val 2795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757" y="3683050"/>
            <a:ext cx="170177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Annual Income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58355" y="3527971"/>
            <a:ext cx="1965052" cy="630138"/>
          </a:xfrm>
          <a:prstGeom prst="roundRect">
            <a:avLst>
              <a:gd name="adj" fmla="val 2795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89994" y="3683050"/>
            <a:ext cx="170177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Loan Amount &amp; Term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20592" y="3527971"/>
            <a:ext cx="1965052" cy="630138"/>
          </a:xfrm>
          <a:prstGeom prst="roundRect">
            <a:avLst>
              <a:gd name="adj" fmla="val 2795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2231" y="3683050"/>
            <a:ext cx="1701775" cy="366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Education &amp; Employment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82829" y="3527971"/>
            <a:ext cx="1965052" cy="630138"/>
          </a:xfrm>
          <a:prstGeom prst="roundRect">
            <a:avLst>
              <a:gd name="adj" fmla="val 2795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4468" y="3683050"/>
            <a:ext cx="170177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CIBIL Score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96119" y="4255294"/>
            <a:ext cx="4027289" cy="446708"/>
          </a:xfrm>
          <a:prstGeom prst="roundRect">
            <a:avLst>
              <a:gd name="adj" fmla="val 3942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757" y="4410373"/>
            <a:ext cx="376401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Asset Values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20592" y="4255294"/>
            <a:ext cx="4027289" cy="446708"/>
          </a:xfrm>
          <a:prstGeom prst="roundRect">
            <a:avLst>
              <a:gd name="adj" fmla="val 3942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2231" y="4410373"/>
            <a:ext cx="376401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Loan Status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114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Exploratory Data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1765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 key analyses performed using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Python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(Pandas &amp; Matplotlib):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03933"/>
            <a:ext cx="4004965" cy="8549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1864742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Loan Approval Rate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33127" y="2171254"/>
            <a:ext cx="36071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distribution of approved vs. rejected applications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703933"/>
            <a:ext cx="4005039" cy="8549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79851" y="1864742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Education vs Loan Status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879851" y="2171254"/>
            <a:ext cx="36072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 of education level on approval outcomes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700635"/>
            <a:ext cx="4004965" cy="8549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3127" y="2861444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CIBIL Score vs Loan Status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33127" y="3167955"/>
            <a:ext cx="36071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Correlation between credit score and approval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2700635"/>
            <a:ext cx="4005039" cy="8549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79851" y="2861444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Income vs Loan Amount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879851" y="3167955"/>
            <a:ext cx="36072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Relationship between annual income and loan size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697337"/>
            <a:ext cx="4004965" cy="85494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33127" y="3858146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Self Employed vs Loan Status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733127" y="4164657"/>
            <a:ext cx="36071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Approval trends for self-employed applicants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2842" y="3697337"/>
            <a:ext cx="4005039" cy="85494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79851" y="3858146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Avg Loan by Education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4879851" y="4164657"/>
            <a:ext cx="36072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Loan size segmented by education level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692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Business Insights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53430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sp>
        <p:nvSpPr>
          <p:cNvPr id="4" name="Shape 2"/>
          <p:cNvSpPr/>
          <p:nvPr/>
        </p:nvSpPr>
        <p:spPr>
          <a:xfrm>
            <a:off x="637877" y="1395189"/>
            <a:ext cx="425276" cy="425276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856" y="1512094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1962224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CIBIL Score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268736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 scores significantly increase loan approval chances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253430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sp>
        <p:nvSpPr>
          <p:cNvPr id="9" name="Shape 6"/>
          <p:cNvSpPr/>
          <p:nvPr/>
        </p:nvSpPr>
        <p:spPr>
          <a:xfrm>
            <a:off x="3402360" y="1395189"/>
            <a:ext cx="425276" cy="425276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9339" y="1512094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2360" y="1962224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Income Level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2360" y="2268736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 income applicants generally receive larger loan amounts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253430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sp>
        <p:nvSpPr>
          <p:cNvPr id="14" name="Shape 10"/>
          <p:cNvSpPr/>
          <p:nvPr/>
        </p:nvSpPr>
        <p:spPr>
          <a:xfrm>
            <a:off x="6166842" y="1395189"/>
            <a:ext cx="425276" cy="425276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3821" y="1512094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6842" y="1962224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Education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66842" y="2268736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Education level positively influences loan approval rates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6119" y="3005882"/>
            <a:ext cx="4004965" cy="1610692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sp>
        <p:nvSpPr>
          <p:cNvPr id="19" name="Shape 14"/>
          <p:cNvSpPr/>
          <p:nvPr/>
        </p:nvSpPr>
        <p:spPr>
          <a:xfrm>
            <a:off x="637877" y="3147640"/>
            <a:ext cx="425276" cy="425276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4856" y="3264545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877" y="3714676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Self-Employment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37877" y="4021187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Self-employed applicants show distinct approval trends vs. salaried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642842" y="3005882"/>
            <a:ext cx="4004965" cy="1610692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sp>
        <p:nvSpPr>
          <p:cNvPr id="24" name="Shape 18"/>
          <p:cNvSpPr/>
          <p:nvPr/>
        </p:nvSpPr>
        <p:spPr>
          <a:xfrm>
            <a:off x="4784601" y="3147640"/>
            <a:ext cx="425276" cy="425276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1580" y="3264545"/>
            <a:ext cx="191319" cy="1913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84601" y="3714676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Multi-Factor Decisions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784601" y="4021187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single variable is decisive — outcomes depend on a combination of financial factors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0973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 &amp; Conclusion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213396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Power BI Dashboard Components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4264" y="1549003"/>
            <a:ext cx="192658" cy="1926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3581" y="1545059"/>
            <a:ext cx="223190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Pie Chart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13581" y="1862138"/>
            <a:ext cx="223190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Loan approval vs. rejection breakdown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264" y="2294855"/>
            <a:ext cx="192658" cy="1926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3581" y="2290911"/>
            <a:ext cx="223190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Bar Charts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913581" y="2607990"/>
            <a:ext cx="223190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Approval by education &amp; employment type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264" y="3236640"/>
            <a:ext cx="192658" cy="19265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3581" y="3232696"/>
            <a:ext cx="223190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Scatter Plot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913581" y="3549774"/>
            <a:ext cx="223190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Income vs. loan amount distribution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4264" y="3982492"/>
            <a:ext cx="192658" cy="19265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3581" y="3978548"/>
            <a:ext cx="223190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Box Plot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913581" y="4295626"/>
            <a:ext cx="223190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CIBIL score distribution by loan status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3463677" y="2099742"/>
            <a:ext cx="518889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3463677" y="2416820"/>
            <a:ext cx="5188893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demonstrates end-to-end data analysis using Python and Power BI, transforming raw banking data into meaningful business insights that support smarter loan approval decisions.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463677" y="3135585"/>
            <a:ext cx="5188893" cy="469627"/>
          </a:xfrm>
          <a:prstGeom prst="roundRect">
            <a:avLst>
              <a:gd name="adj" fmla="val 4104"/>
            </a:avLst>
          </a:prstGeom>
          <a:solidFill>
            <a:srgbClr val="D7DFF4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92116" y="3321769"/>
            <a:ext cx="160586" cy="12843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881140" y="3272433"/>
            <a:ext cx="510019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Thank You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2026-07-22T13:39:32Z</dcterms:created>
  <dcterms:modified xsi:type="dcterms:W3CDTF">2026-07-22T13:39:32Z</dcterms:modified>
</cp:coreProperties>
</file>